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开场约 30 秒。说明本次只讲一条完整链路：怎么申请、管理员怎么配置、开发人员怎么调用。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1 分钟。先给全景，再说明后面三页聚焦管理员配置，最后三页聚焦调用。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1 分钟。强调申请入口即可，不讲企微表单字段；申请人与管理员的职责从这里分开。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1 分钟。分组只表达项目和环境；后续渠道、模型、令牌都复用这个前缀。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 分钟。强调渠道名和对外模型名必须统一；上游实际名不同就用重定向，用户永远使用网关模型名。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1.5 分钟。令牌是项目调用权限的边界。重点讲模型限制、额度、过期时间和安全下发。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1 分钟。只承诺用户无感知，不展开权重和调度算法。强调多个实例必须是同版本模型。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1.5 分钟。接口地图只做快速认知。培训重点仍是 chat/completions；其他接口按模型能力和申请范围使用。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 分钟。先讲 model 和 messages，再讲 stream、输出长度和采样。tools 与 response_format 只做能力提示。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 分钟。现场可复制 curl。出错时按照地址、令牌、模型名、权限、渠道状态的顺序排查。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附录页不逐项讲解。说明必填星号：普通 Chat Completions 需要 messages；FIM 可使用 prefix/suffix。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结束页。提醒参训人员：接口存在、令牌授权、上游模型支持三者缺一不可。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-640080"/>
            <a:ext cx="4297680" cy="4297680"/>
          </a:xfrm>
          <a:prstGeom prst="ellipse">
            <a:avLst/>
          </a:prstGeom>
          <a:solidFill>
            <a:srgbClr val="35D0A0">
              <a:alpha val="18000"/>
            </a:srgbClr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4279392"/>
            <a:ext cx="2011680" cy="2011680"/>
          </a:xfrm>
          <a:prstGeom prst="ellipse">
            <a:avLst/>
          </a:prstGeom>
          <a:solidFill>
            <a:srgbClr val="4E7CF0">
              <a:alpha val="18000"/>
            </a:srgbClr>
          </a:solidFill>
          <a:ln w="12700">
            <a:solidFill>
              <a:srgbClr val="4E7CF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35D0A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 GATEWAY · TRAINING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649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网关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大模型调用培训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749808" y="32461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CC7C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从模型申请、管理员配置到 API 调用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404164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2F3B3A"/>
          </a:solidFill>
          <a:ln w="7620">
            <a:solidFill>
              <a:srgbClr val="139B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4123944"/>
            <a:ext cx="1380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15 分钟精简版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404164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2F3B3A"/>
          </a:solidFill>
          <a:ln w="7620">
            <a:solidFill>
              <a:srgbClr val="516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2616" y="4123944"/>
            <a:ext cx="1380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用户 + 管理员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2240280"/>
            <a:ext cx="914400" cy="1325880"/>
          </a:xfrm>
          <a:prstGeom prst="line">
            <a:avLst/>
          </a:prstGeom>
          <a:noFill/>
          <a:ln w="17780">
            <a:solidFill>
              <a:srgbClr val="35D0A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0" y="1920240"/>
            <a:ext cx="749808" cy="749808"/>
          </a:xfrm>
          <a:prstGeom prst="ellipse">
            <a:avLst/>
          </a:prstGeom>
          <a:solidFill>
            <a:srgbClr val="2B333B"/>
          </a:solidFill>
          <a:ln w="13970">
            <a:solidFill>
              <a:srgbClr val="6673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21671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申请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555480" y="3566160"/>
            <a:ext cx="868680" cy="-1417320"/>
          </a:xfrm>
          <a:prstGeom prst="line">
            <a:avLst/>
          </a:prstGeom>
          <a:noFill/>
          <a:ln w="17780">
            <a:solidFill>
              <a:srgbClr val="35D0A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15400" y="3246120"/>
            <a:ext cx="749808" cy="749808"/>
          </a:xfrm>
          <a:prstGeom prst="ellipse">
            <a:avLst/>
          </a:prstGeom>
          <a:solidFill>
            <a:srgbClr val="2B333B"/>
          </a:solidFill>
          <a:ln w="13970">
            <a:solidFill>
              <a:srgbClr val="6673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349300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配置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109960" y="2148840"/>
            <a:ext cx="-2331720" cy="-777240"/>
          </a:xfrm>
          <a:prstGeom prst="line">
            <a:avLst/>
          </a:prstGeom>
          <a:noFill/>
          <a:ln w="17780">
            <a:solidFill>
              <a:srgbClr val="4E7CF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469880" y="1828800"/>
            <a:ext cx="749808" cy="749808"/>
          </a:xfrm>
          <a:prstGeom prst="ellipse">
            <a:avLst/>
          </a:prstGeom>
          <a:solidFill>
            <a:srgbClr val="2B333B"/>
          </a:solidFill>
          <a:ln w="13970">
            <a:solidFill>
              <a:srgbClr val="6673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69880" y="20756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23960" y="1051560"/>
            <a:ext cx="749808" cy="749808"/>
          </a:xfrm>
          <a:prstGeom prst="ellipse">
            <a:avLst/>
          </a:prstGeom>
          <a:solidFill>
            <a:srgbClr val="35D0A0"/>
          </a:solidFill>
          <a:ln w="13970">
            <a:solidFill>
              <a:srgbClr val="35D0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129844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5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网关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698480" y="62453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全流程总览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一次调用，经过哪些环节？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95176" y="384048"/>
            <a:ext cx="109728" cy="10972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网关 · 大模型调用培训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1938528" cy="2514600"/>
          </a:xfrm>
          <a:prstGeom prst="roundRect">
            <a:avLst>
              <a:gd name="adj" fmla="val 377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2039112"/>
            <a:ext cx="384048" cy="38404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0939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5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52728" y="203911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企微申请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560320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提交项目、环境与模型需求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87752" y="3090672"/>
            <a:ext cx="256032" cy="0"/>
          </a:xfrm>
          <a:prstGeom prst="line">
            <a:avLst/>
          </a:prstGeom>
          <a:noFill/>
          <a:ln w="19050">
            <a:solidFill>
              <a:srgbClr val="139B7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07792" y="1874520"/>
            <a:ext cx="1938528" cy="2514600"/>
          </a:xfrm>
          <a:prstGeom prst="roundRect">
            <a:avLst>
              <a:gd name="adj" fmla="val 3774"/>
            </a:avLst>
          </a:prstGeom>
          <a:solidFill>
            <a:srgbClr val="20252B"/>
          </a:solidFill>
          <a:ln w="19050">
            <a:solidFill>
              <a:srgbClr val="35D0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72384" y="2039112"/>
            <a:ext cx="384048" cy="38404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72384" y="20939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5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203911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管理员配置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90672" y="2560320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6D0C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分组 → 渠道 → 令牌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01184" y="3090672"/>
            <a:ext cx="256032" cy="0"/>
          </a:xfrm>
          <a:prstGeom prst="line">
            <a:avLst/>
          </a:prstGeom>
          <a:noFill/>
          <a:ln w="19050">
            <a:solidFill>
              <a:srgbClr val="139B7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21224" y="1874520"/>
            <a:ext cx="1938528" cy="2514600"/>
          </a:xfrm>
          <a:prstGeom prst="roundRect">
            <a:avLst>
              <a:gd name="adj" fmla="val 377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85816" y="2039112"/>
            <a:ext cx="384048" cy="38404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85816" y="20939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5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79592" y="203911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令牌下发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04104" y="2560320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通过钉钉安全交付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14616" y="3090672"/>
            <a:ext cx="256032" cy="0"/>
          </a:xfrm>
          <a:prstGeom prst="line">
            <a:avLst/>
          </a:prstGeom>
          <a:noFill/>
          <a:ln w="19050">
            <a:solidFill>
              <a:srgbClr val="139B7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34656" y="1874520"/>
            <a:ext cx="1938528" cy="2514600"/>
          </a:xfrm>
          <a:prstGeom prst="roundRect">
            <a:avLst>
              <a:gd name="adj" fmla="val 3774"/>
            </a:avLst>
          </a:prstGeom>
          <a:solidFill>
            <a:srgbClr val="20252B"/>
          </a:solidFill>
          <a:ln w="19050">
            <a:solidFill>
              <a:srgbClr val="35D0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99248" y="2039112"/>
            <a:ext cx="384048" cy="38404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99248" y="20939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5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93024" y="203911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API 调用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17536" y="2560320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6D0C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使用统一网关地址和模型名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28048" y="3090672"/>
            <a:ext cx="256032" cy="0"/>
          </a:xfrm>
          <a:prstGeom prst="line">
            <a:avLst/>
          </a:prstGeom>
          <a:noFill/>
          <a:ln w="19050">
            <a:solidFill>
              <a:srgbClr val="139B7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848088" y="1874520"/>
            <a:ext cx="1938528" cy="2514600"/>
          </a:xfrm>
          <a:prstGeom prst="roundRect">
            <a:avLst>
              <a:gd name="adj" fmla="val 377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012680" y="2039112"/>
            <a:ext cx="384048" cy="38404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12680" y="20939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5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506456" y="203911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结果返回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30968" y="2560320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网关选择可用渠道并转发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828800" y="4937760"/>
            <a:ext cx="8549640" cy="749808"/>
          </a:xfrm>
          <a:prstGeom prst="roundRect">
            <a:avLst>
              <a:gd name="adj" fmla="val 9756"/>
            </a:avLst>
          </a:prstGeom>
          <a:solidFill>
            <a:srgbClr val="DDF7EE"/>
          </a:solidFill>
          <a:ln w="10160">
            <a:solidFill>
              <a:srgbClr val="B9E7D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516636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9B7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培训记住两件事：管理员保证“配置正确”，调用方保证“地址、令牌、模型名正确”。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模型申请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第一步：通过企微申请模型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95176" y="384048"/>
            <a:ext cx="109728" cy="10972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网关 · 大模型调用培训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3749040" cy="4114800"/>
          </a:xfrm>
          <a:prstGeom prst="roundRect">
            <a:avLst>
              <a:gd name="adj" fmla="val 1951"/>
            </a:avLst>
          </a:prstGeom>
          <a:solidFill>
            <a:srgbClr val="20252B"/>
          </a:solidFill>
          <a:ln w="12700">
            <a:solidFill>
              <a:srgbClr val="2025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938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唯一入口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25420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企微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“AI 网关模型申请”流程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987552" y="4187952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3CCC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本培训不展开企微审批细节。审批完成后，由管理员完成网关配置并下发令牌。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664208"/>
            <a:ext cx="566928" cy="566928"/>
          </a:xfrm>
          <a:prstGeom prst="ellipse">
            <a:avLst/>
          </a:prstGeom>
          <a:solidFill>
            <a:srgbClr val="FFFEFA"/>
          </a:solidFill>
          <a:ln w="15240">
            <a:solidFill>
              <a:srgbClr val="139B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84708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9B7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7880" y="1645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提交需求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897880" y="207568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项目、环境、目标模型与申请人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12664" y="2286000"/>
            <a:ext cx="0" cy="676656"/>
          </a:xfrm>
          <a:prstGeom prst="line">
            <a:avLst/>
          </a:prstGeom>
          <a:noFill/>
          <a:ln w="19050">
            <a:solidFill>
              <a:srgbClr val="B7D8C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029200" y="2962656"/>
            <a:ext cx="566928" cy="566928"/>
          </a:xfrm>
          <a:prstGeom prst="ellipse">
            <a:avLst/>
          </a:prstGeom>
          <a:solidFill>
            <a:srgbClr val="FFFEFA"/>
          </a:solidFill>
          <a:ln w="15240">
            <a:solidFill>
              <a:srgbClr val="139B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1455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9B7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97880" y="2944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等待审批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897880" y="337413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确认资源、权限和使用范围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12664" y="3584448"/>
            <a:ext cx="0" cy="676656"/>
          </a:xfrm>
          <a:prstGeom prst="line">
            <a:avLst/>
          </a:prstGeom>
          <a:noFill/>
          <a:ln w="19050">
            <a:solidFill>
              <a:srgbClr val="B7D8C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029200" y="4261104"/>
            <a:ext cx="566928" cy="566928"/>
          </a:xfrm>
          <a:prstGeom prst="ellipse">
            <a:avLst/>
          </a:prstGeom>
          <a:solidFill>
            <a:srgbClr val="35D0A0"/>
          </a:solidFill>
          <a:ln w="15240">
            <a:solidFill>
              <a:srgbClr val="139B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444398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5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42428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接收令牌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897880" y="467258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管理员配置完成后通过钉钉下发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5321808"/>
            <a:ext cx="3017520" cy="347472"/>
          </a:xfrm>
          <a:prstGeom prst="roundRect">
            <a:avLst>
              <a:gd name="adj" fmla="val 21053"/>
            </a:avLst>
          </a:prstGeom>
          <a:solidFill>
            <a:srgbClr val="FFF0D5"/>
          </a:solidFill>
          <a:ln w="7620">
            <a:solidFill>
              <a:srgbClr val="EFCB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5404104"/>
            <a:ext cx="2798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D5A1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申请人无需进入网关后台操作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管理员配置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管理员配置 ① 分组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95176" y="384048"/>
            <a:ext cx="109728" cy="10972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网关 · 大模型调用培训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 / 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进入「分组管理」→ 新建分组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7CF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2514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8EEFF"/>
          </a:solidFill>
          <a:ln w="15240">
            <a:solidFill>
              <a:srgbClr val="4E7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28803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E7C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297680" y="20574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连接符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514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EFA"/>
          </a:solidFill>
          <a:ln w="15240">
            <a:solidFill>
              <a:srgbClr val="5360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0" y="28803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-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583680" y="20574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9B7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环境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2514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DDF7EE"/>
          </a:solidFill>
          <a:ln w="15240">
            <a:solidFill>
              <a:srgbClr val="139B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28803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39B7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test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3264408" y="3136392"/>
            <a:ext cx="804672" cy="0"/>
          </a:xfrm>
          <a:prstGeom prst="line">
            <a:avLst/>
          </a:prstGeom>
          <a:noFill/>
          <a:ln w="15240">
            <a:solidFill>
              <a:srgbClr val="D9D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77840" y="3136392"/>
            <a:ext cx="786384" cy="0"/>
          </a:xfrm>
          <a:prstGeom prst="line">
            <a:avLst/>
          </a:prstGeom>
          <a:noFill/>
          <a:ln w="15240">
            <a:solidFill>
              <a:srgbClr val="D9DE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89720" y="2148840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20252B"/>
          </a:solidFill>
          <a:ln w="12700">
            <a:solidFill>
              <a:srgbClr val="2025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09760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9C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最终分组名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72600" y="30540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5D0A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cs-test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005840" y="470916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FFEFA"/>
          </a:solidFill>
          <a:ln w="8890">
            <a:solidFill>
              <a:srgbClr val="D9D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8448" y="50017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9B7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命名规则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1720" y="49286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项目-环境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572000" y="50017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统一使用小写，避免同一项目出现多套命名。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管理员配置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管理员配置 ② 渠道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95176" y="384048"/>
            <a:ext cx="109728" cy="10972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网关 · 大模型调用培训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4800600" cy="4462272"/>
          </a:xfrm>
          <a:prstGeom prst="roundRect">
            <a:avLst>
              <a:gd name="adj" fmla="val 1639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581912"/>
            <a:ext cx="73152" cy="4133088"/>
          </a:xfrm>
          <a:prstGeom prst="rect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600200"/>
            <a:ext cx="4215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一个模型对应一个渠道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42416" y="1856232"/>
            <a:ext cx="4215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渠道基础信息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2416" y="2286000"/>
            <a:ext cx="42153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渠道名称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cs-test-glm-5.1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渠道内模型名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cs-test-glm-5.1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其他字段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base_url、api_key、环境按提供信息填写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989320" y="1508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模型重定向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89320" y="19019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当李国刚 / 范亚浩提供的实际模型名不符合网关规则时：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25146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20252B"/>
          </a:solidFill>
          <a:ln w="12700">
            <a:solidFill>
              <a:srgbClr val="2025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2724912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4B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网关模型名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2200" y="30632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35D0A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cs-test-glm-5.1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458200" y="3017520"/>
            <a:ext cx="658368" cy="0"/>
          </a:xfrm>
          <a:prstGeom prst="line">
            <a:avLst/>
          </a:prstGeom>
          <a:noFill/>
          <a:ln w="27940">
            <a:solidFill>
              <a:srgbClr val="139B7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81160" y="25146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DDF7EE"/>
          </a:solidFill>
          <a:ln w="12700">
            <a:solidFill>
              <a:srgbClr val="139B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91472" y="2724912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9B7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上游实际模型名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491472" y="306324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glm-5.1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89320" y="4160520"/>
            <a:ext cx="5349240" cy="1353312"/>
          </a:xfrm>
          <a:prstGeom prst="roundRect">
            <a:avLst>
              <a:gd name="adj" fmla="val 5405"/>
            </a:avLst>
          </a:prstGeom>
          <a:solidFill>
            <a:srgbClr val="FFF0D5"/>
          </a:solidFill>
          <a:ln w="10160">
            <a:solidFill>
              <a:srgbClr val="EEC7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4453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531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最后一步：点击「测试」验证连通性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7648" y="4937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642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只有测试通过的渠道，才进入令牌配置和用户交付。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管理员配置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管理员配置 ③ 令牌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95176" y="384048"/>
            <a:ext cx="109728" cy="10972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网关 · 大模型调用培训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 / 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一个令牌可以授权一个模型，也可以授权同一项目的多个模型。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1965960"/>
            <a:ext cx="4983480" cy="3749040"/>
          </a:xfrm>
          <a:prstGeom prst="roundRect">
            <a:avLst>
              <a:gd name="adj" fmla="val 1951"/>
            </a:avLst>
          </a:prstGeom>
          <a:solidFill>
            <a:srgbClr val="20252B"/>
          </a:solidFill>
          <a:ln w="12700">
            <a:solidFill>
              <a:srgbClr val="2025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2286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5D0A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TOKEN PROFILE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7552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cs-test-glm-5.1-揭昊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584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A49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关联分组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35844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35D0A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cs-test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1005840" y="41513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A49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模型限制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41513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cs-test-glm-5.1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1005840" y="4718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A49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额度 / 过期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47183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按项目实际需求设置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172200" y="1993392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36792" y="2157984"/>
            <a:ext cx="73152" cy="969264"/>
          </a:xfrm>
          <a:prstGeom prst="rect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217627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STEP 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56248" y="2432304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选择分组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56248" y="286207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关联 cs-test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823960" y="1993392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88552" y="2157984"/>
            <a:ext cx="73152" cy="969264"/>
          </a:xfrm>
          <a:prstGeom prst="rect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217627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STEP 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208008" y="2432304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限制模型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08008" y="286207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仅开放申请范围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172200" y="3593592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3758184"/>
            <a:ext cx="73152" cy="969264"/>
          </a:xfrm>
          <a:prstGeom prst="rect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6248" y="377647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STEP 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56248" y="4032504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设置边界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56248" y="446227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额度和过期时间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8823960" y="3593592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88552" y="3758184"/>
            <a:ext cx="73152" cy="969264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08008" y="377647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B86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STEP 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208008" y="4032504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安全下发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208008" y="446227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通过钉钉交付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172200" y="5102352"/>
            <a:ext cx="4983480" cy="594360"/>
          </a:xfrm>
          <a:prstGeom prst="roundRect">
            <a:avLst>
              <a:gd name="adj" fmla="val 9231"/>
            </a:avLst>
          </a:prstGeom>
          <a:solidFill>
            <a:srgbClr val="FFF0D5"/>
          </a:solidFill>
          <a:ln w="8890">
            <a:solidFill>
              <a:srgbClr val="EEC7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53035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835A1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令牌属于敏感凭据：不得写入代码仓库、群公告或公开文档。</a:t>
            </a:r>
            <a:endParaRPr lang="en-US" sz="11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负载均衡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高负载场景：一个模型名，多条渠道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95176" y="384048"/>
            <a:ext cx="109728" cy="10972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18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网关 · 大模型调用培训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918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 / 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3533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B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项目负载压力较大时，可申请多个同版本模型实例；管理员配置多条渠道。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2E383F"/>
          </a:solidFill>
          <a:ln w="16510">
            <a:solidFill>
              <a:srgbClr val="35D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6700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6B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用户始终调用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13639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A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cs-test-glm-5.1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03320" y="3090672"/>
            <a:ext cx="960120" cy="0"/>
          </a:xfrm>
          <a:prstGeom prst="line">
            <a:avLst/>
          </a:prstGeom>
          <a:noFill/>
          <a:ln w="30480">
            <a:solidFill>
              <a:srgbClr val="35D0A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28032" y="2148840"/>
            <a:ext cx="1874520" cy="1874520"/>
          </a:xfrm>
          <a:prstGeom prst="ellipse">
            <a:avLst/>
          </a:prstGeom>
          <a:solidFill>
            <a:srgbClr val="35D0A0"/>
          </a:solidFill>
          <a:ln w="15240">
            <a:solidFill>
              <a:srgbClr val="82E8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2624328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5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25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网关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858000" y="3063240"/>
            <a:ext cx="914400" cy="-932688"/>
          </a:xfrm>
          <a:prstGeom prst="line">
            <a:avLst/>
          </a:prstGeom>
          <a:noFill/>
          <a:ln w="21590">
            <a:solidFill>
              <a:srgbClr val="74827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5280" y="1737360"/>
            <a:ext cx="3246120" cy="896112"/>
          </a:xfrm>
          <a:prstGeom prst="roundRect">
            <a:avLst>
              <a:gd name="adj" fmla="val 6122"/>
            </a:avLst>
          </a:prstGeom>
          <a:solidFill>
            <a:srgbClr val="2A333A"/>
          </a:solidFill>
          <a:ln w="11430">
            <a:solidFill>
              <a:srgbClr val="5662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渠道 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89720" y="190195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AB6B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同版本实例 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47888" y="2240280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9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上游实际模型名可分别重定向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3063240"/>
            <a:ext cx="914400" cy="237744"/>
          </a:xfrm>
          <a:prstGeom prst="line">
            <a:avLst/>
          </a:prstGeom>
          <a:noFill/>
          <a:ln w="21590">
            <a:solidFill>
              <a:srgbClr val="35D0A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55280" y="2907792"/>
            <a:ext cx="3246120" cy="896112"/>
          </a:xfrm>
          <a:prstGeom prst="roundRect">
            <a:avLst>
              <a:gd name="adj" fmla="val 6122"/>
            </a:avLst>
          </a:prstGeom>
          <a:solidFill>
            <a:srgbClr val="2E443D"/>
          </a:solidFill>
          <a:ln w="11430">
            <a:solidFill>
              <a:srgbClr val="35D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30723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渠道 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9720" y="307238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AB6B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同版本实例 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47888" y="341071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9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上游实际模型名可分别重定向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3063240"/>
            <a:ext cx="914400" cy="1408176"/>
          </a:xfrm>
          <a:prstGeom prst="line">
            <a:avLst/>
          </a:prstGeom>
          <a:noFill/>
          <a:ln w="21590">
            <a:solidFill>
              <a:srgbClr val="74827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55280" y="4078224"/>
            <a:ext cx="3246120" cy="896112"/>
          </a:xfrm>
          <a:prstGeom prst="roundRect">
            <a:avLst>
              <a:gd name="adj" fmla="val 6122"/>
            </a:avLst>
          </a:prstGeom>
          <a:solidFill>
            <a:srgbClr val="2A333A"/>
          </a:solidFill>
          <a:ln w="11430">
            <a:solidFill>
              <a:srgbClr val="5662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42428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渠道 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89720" y="42428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AB6B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同版本实例 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47888" y="458114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9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上游实际模型名可分别重定向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00200" y="5166360"/>
            <a:ext cx="9006840" cy="658368"/>
          </a:xfrm>
          <a:prstGeom prst="roundRect">
            <a:avLst>
              <a:gd name="adj" fmla="val 8333"/>
            </a:avLst>
          </a:prstGeom>
          <a:solidFill>
            <a:srgbClr val="27312F"/>
          </a:solidFill>
          <a:ln w="8890">
            <a:solidFill>
              <a:srgbClr val="4754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74520" y="5404104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用户无感知：地址、令牌、模型名都不变；扩容与渠道维护由管理员完成。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接口能力地图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网关当前提供哪些接口？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95176" y="384048"/>
            <a:ext cx="109728" cy="10972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网关 · 大模型调用培训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581912"/>
            <a:ext cx="73152" cy="1545336"/>
          </a:xfrm>
          <a:prstGeom prst="rect">
            <a:avLst/>
          </a:prstGeom>
          <a:solidFill>
            <a:srgbClr val="4E7CF0"/>
          </a:solidFill>
          <a:ln w="12700">
            <a:solidFill>
              <a:srgbClr val="4E7CF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645920"/>
            <a:ext cx="2843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模型查询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42416" y="2121408"/>
            <a:ext cx="28437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GET /v1/models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GET /v1/models/{model}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370832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35424" y="1581912"/>
            <a:ext cx="73152" cy="1545336"/>
          </a:xfrm>
          <a:prstGeom prst="rect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645920"/>
            <a:ext cx="2843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文本与对话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2121408"/>
            <a:ext cx="28437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POST /v1/chat/completions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POST /v1/completions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POST /v1/responses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POST /v1/messages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083296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47888" y="1581912"/>
            <a:ext cx="73152" cy="1545336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344" y="1645920"/>
            <a:ext cx="2843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向量与排序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67344" y="2121408"/>
            <a:ext cx="28437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POST /v1/embeddings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POST /v1/rerank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8368" y="36118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776472"/>
            <a:ext cx="73152" cy="1682496"/>
          </a:xfrm>
          <a:prstGeom prst="rect">
            <a:avLst/>
          </a:prstGeom>
          <a:solidFill>
            <a:srgbClr val="D65A5A"/>
          </a:solidFill>
          <a:ln w="12700">
            <a:solidFill>
              <a:srgbClr val="D65A5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3840480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图像与音频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42416" y="4315968"/>
            <a:ext cx="476402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图像：/v1/images/generations、/v1/images/edits、/v1/edits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音频：/v1/audio/transcriptions、/translations、/speech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91072" y="3611880"/>
            <a:ext cx="5221224" cy="2011680"/>
          </a:xfrm>
          <a:prstGeom prst="roundRect">
            <a:avLst>
              <a:gd name="adj" fmla="val 3636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55664" y="3776472"/>
            <a:ext cx="73152" cy="1682496"/>
          </a:xfrm>
          <a:prstGeom prst="rect">
            <a:avLst/>
          </a:prstGeom>
          <a:solidFill>
            <a:srgbClr val="4E7CF0"/>
          </a:solidFill>
          <a:ln w="12700">
            <a:solidFill>
              <a:srgbClr val="4E7C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840480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兼容接口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75120" y="4315968"/>
            <a:ext cx="46360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内容审核：POST /v1/moderations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Gemini：/v1beta/models/...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Realtime：GET /v1/realtime（WebSocket）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3154680" y="5879592"/>
            <a:ext cx="5897880" cy="347472"/>
          </a:xfrm>
          <a:prstGeom prst="roundRect">
            <a:avLst>
              <a:gd name="adj" fmla="val 21053"/>
            </a:avLst>
          </a:prstGeom>
          <a:solidFill>
            <a:srgbClr val="FFF0D5"/>
          </a:solidFill>
          <a:ln w="7620">
            <a:solidFill>
              <a:srgbClr val="EEC7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5961888"/>
            <a:ext cx="5678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84571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文件、微调、图片变体等路由当前明确标记为未实现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核心接口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/v1/chat/completions：核心参数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95176" y="384048"/>
            <a:ext cx="109728" cy="10972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网关 · 大模型调用培训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4892040" cy="4526280"/>
          </a:xfrm>
          <a:prstGeom prst="roundRect">
            <a:avLst>
              <a:gd name="adj" fmla="val 1616"/>
            </a:avLst>
          </a:prstGeom>
          <a:solidFill>
            <a:srgbClr val="20252B"/>
          </a:solidFill>
          <a:ln w="10160">
            <a:solidFill>
              <a:srgbClr val="3B45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1600200"/>
            <a:ext cx="91440" cy="91440"/>
          </a:xfrm>
          <a:prstGeom prst="ellipse">
            <a:avLst/>
          </a:prstGeom>
          <a:solidFill>
            <a:srgbClr val="D65A5A"/>
          </a:solidFill>
          <a:ln w="12700">
            <a:solidFill>
              <a:srgbClr val="D65A5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1600200"/>
            <a:ext cx="91440" cy="9144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1872" y="1600200"/>
            <a:ext cx="91440" cy="91440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54533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5A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request.json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" y="1856232"/>
            <a:ext cx="4562856" cy="0"/>
          </a:xfrm>
          <a:prstGeom prst="line">
            <a:avLst/>
          </a:prstGeom>
          <a:noFill/>
          <a:ln w="7620">
            <a:solidFill>
              <a:srgbClr val="4551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984248"/>
            <a:ext cx="437997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{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"model": "cs-test-glm-5.1",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"messages": [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  {"role": "system", "content": "你是助手"},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  {"role": "user", "content": "请介绍 AI 网关"}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],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"temperature": 0.3,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"max_tokens": 512,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"stream": false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}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704088" y="1947672"/>
            <a:ext cx="45720" cy="3867912"/>
          </a:xfrm>
          <a:prstGeom prst="rect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70448" y="1417320"/>
            <a:ext cx="2578608" cy="1188720"/>
          </a:xfrm>
          <a:prstGeom prst="roundRect">
            <a:avLst>
              <a:gd name="adj" fmla="val 615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581912"/>
            <a:ext cx="73152" cy="859536"/>
          </a:xfrm>
          <a:prstGeom prst="rect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60020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必填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54496" y="185623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model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6254496" y="228600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网关模型名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705088" y="1417320"/>
            <a:ext cx="2578608" cy="1188720"/>
          </a:xfrm>
          <a:prstGeom prst="roundRect">
            <a:avLst>
              <a:gd name="adj" fmla="val 615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1581912"/>
            <a:ext cx="73152" cy="859536"/>
          </a:xfrm>
          <a:prstGeom prst="rect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89136" y="160020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必填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089136" y="185623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messages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9089136" y="228600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上下文消息数组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870448" y="2834640"/>
            <a:ext cx="2578608" cy="1188720"/>
          </a:xfrm>
          <a:prstGeom prst="roundRect">
            <a:avLst>
              <a:gd name="adj" fmla="val 615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999232"/>
            <a:ext cx="73152" cy="859536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301752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B86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输出方式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54496" y="32735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stream / stream_options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6254496" y="370332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流式输出及用量信息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8705088" y="2834640"/>
            <a:ext cx="2578608" cy="1188720"/>
          </a:xfrm>
          <a:prstGeom prst="roundRect">
            <a:avLst>
              <a:gd name="adj" fmla="val 615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2999232"/>
            <a:ext cx="73152" cy="859536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89136" y="301752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B86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输出长度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089136" y="32735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max_tokens / max_completion_tokens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9089136" y="370332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限制最大生成长度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870448" y="4251960"/>
            <a:ext cx="2578608" cy="1188720"/>
          </a:xfrm>
          <a:prstGeom prst="roundRect">
            <a:avLst>
              <a:gd name="adj" fmla="val 615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4416552"/>
            <a:ext cx="73152" cy="859536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44348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B86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采样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54496" y="46908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temperature / top_p / top_k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6254496" y="512064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控制随机性与候选范围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8705088" y="4251960"/>
            <a:ext cx="2578608" cy="1188720"/>
          </a:xfrm>
          <a:prstGeom prst="roundRect">
            <a:avLst>
              <a:gd name="adj" fmla="val 615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69680" y="4416552"/>
            <a:ext cx="73152" cy="859536"/>
          </a:xfrm>
          <a:prstGeom prst="rect">
            <a:avLst/>
          </a:prstGeom>
          <a:solidFill>
            <a:srgbClr val="4E7CF0"/>
          </a:solidFill>
          <a:ln w="12700">
            <a:solidFill>
              <a:srgbClr val="4E7CF0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89136" y="44348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E7CF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高级能力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089136" y="46908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tools / tool_choice / response_format</a:t>
            </a:r>
            <a:endParaRPr lang="en-US" sz="1280" dirty="0"/>
          </a:p>
        </p:txBody>
      </p:sp>
      <p:sp>
        <p:nvSpPr>
          <p:cNvPr id="45" name="Text 43"/>
          <p:cNvSpPr/>
          <p:nvPr/>
        </p:nvSpPr>
        <p:spPr>
          <a:xfrm>
            <a:off x="9089136" y="512064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工具调用与结构化输出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870448" y="5760720"/>
            <a:ext cx="5413248" cy="438912"/>
          </a:xfrm>
          <a:prstGeom prst="roundRect">
            <a:avLst>
              <a:gd name="adj" fmla="val 10417"/>
            </a:avLst>
          </a:prstGeom>
          <a:solidFill>
            <a:srgbClr val="FFF0D5"/>
          </a:solidFill>
          <a:ln w="8890">
            <a:solidFill>
              <a:srgbClr val="EEC77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5897880"/>
            <a:ext cx="4901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0561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高级参数是否生效取决于所申请的上游模型，请按实际模型验证。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快速上手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从请求到结果：调用示例与检查清单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95176" y="384048"/>
            <a:ext cx="109728" cy="10972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网关 · 大模型调用培训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389888"/>
            <a:ext cx="6446520" cy="3749040"/>
          </a:xfrm>
          <a:prstGeom prst="roundRect">
            <a:avLst>
              <a:gd name="adj" fmla="val 1951"/>
            </a:avLst>
          </a:prstGeom>
          <a:solidFill>
            <a:srgbClr val="20252B"/>
          </a:solidFill>
          <a:ln w="10160">
            <a:solidFill>
              <a:srgbClr val="3B45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1572768"/>
            <a:ext cx="91440" cy="91440"/>
          </a:xfrm>
          <a:prstGeom prst="ellipse">
            <a:avLst/>
          </a:prstGeom>
          <a:solidFill>
            <a:srgbClr val="D65A5A"/>
          </a:solidFill>
          <a:ln w="12700">
            <a:solidFill>
              <a:srgbClr val="D65A5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1572768"/>
            <a:ext cx="91440" cy="9144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1872" y="1572768"/>
            <a:ext cx="91440" cy="91440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517904"/>
            <a:ext cx="5458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5A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curl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" y="1828800"/>
            <a:ext cx="6117336" cy="0"/>
          </a:xfrm>
          <a:prstGeom prst="line">
            <a:avLst/>
          </a:prstGeom>
          <a:noFill/>
          <a:ln w="7620">
            <a:solidFill>
              <a:srgbClr val="4551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956816"/>
            <a:ext cx="5934456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curl -X POST '&lt;AI_GATEWAY_BASE_URL&gt;/v1/chat/completions' \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-H 'Authorization: Bearer &lt;YOUR_TOKEN&gt;' \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-H 'Content-Type: application/json' \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-d '{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  "model": "cs-test-glm-5.1",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  "messages": [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    {"role": "user", "content": "请用一句话介绍 AI 网关"}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  ],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  "temperature": 0.3,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  "stream": false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 }'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04088" y="1920240"/>
            <a:ext cx="45720" cy="3090672"/>
          </a:xfrm>
          <a:prstGeom prst="rect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389888"/>
            <a:ext cx="4114800" cy="1874520"/>
          </a:xfrm>
          <a:prstGeom prst="roundRect">
            <a:avLst>
              <a:gd name="adj" fmla="val 3902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71232" y="1554480"/>
            <a:ext cx="73152" cy="1545336"/>
          </a:xfrm>
          <a:prstGeom prst="rect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0688" y="157276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非流式响应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90688" y="1828800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读取 choices[0].message.content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7790688" y="2258568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同时关注 usage 中的输入、输出和总 token 数。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406640" y="3493008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EFA"/>
          </a:solidFill>
          <a:ln w="1016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71232" y="3657600"/>
            <a:ext cx="73152" cy="1316736"/>
          </a:xfrm>
          <a:prstGeom prst="rect">
            <a:avLst/>
          </a:prstGeom>
          <a:solidFill>
            <a:srgbClr val="4E7CF0"/>
          </a:solidFill>
          <a:ln w="12700">
            <a:solidFill>
              <a:srgbClr val="4E7C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0688" y="367588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E7CF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流式响应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790688" y="3931920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stream: true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90688" y="4361688"/>
            <a:ext cx="3529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 SSE 的 data: 分片读取增量内容，直到 [DONE]。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58368" y="5413248"/>
            <a:ext cx="10863072" cy="667512"/>
          </a:xfrm>
          <a:prstGeom prst="roundRect">
            <a:avLst>
              <a:gd name="adj" fmla="val 8219"/>
            </a:avLst>
          </a:prstGeom>
          <a:solidFill>
            <a:srgbClr val="FFFEFA"/>
          </a:solidFill>
          <a:ln w="8890">
            <a:solidFill>
              <a:srgbClr val="D9D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" y="5696712"/>
            <a:ext cx="137160" cy="137160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56418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地址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773936" y="564184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含 /v1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90088" y="5696712"/>
            <a:ext cx="137160" cy="137160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27832" y="56418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令牌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831336" y="564184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Bearer 格式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47488" y="5696712"/>
            <a:ext cx="137160" cy="137160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85232" y="56418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模型名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888736" y="564184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完全一致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04888" y="5696712"/>
            <a:ext cx="137160" cy="137160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42632" y="56418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权限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946136" y="564184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分组与模型限制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62288" y="5696712"/>
            <a:ext cx="137160" cy="13716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00032" y="56418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渠道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003536" y="564184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启用且测试通过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附录 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附录：Chat Completions 参数速查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95176" y="384048"/>
            <a:ext cx="109728" cy="10972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网关 · 大模型调用培训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 / 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3504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9B7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基础与输出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" y="16642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DDF7EE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7373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39B7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model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1956816" y="17373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5A5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必填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713232" y="19110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网关模型名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603504" y="21214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DDF7EE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1945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39B7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messages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1956816" y="21945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必填*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13232" y="23682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消息数组；FIM 场景可用 prefix/suffix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603504" y="25786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DDF7EE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6517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39B7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stream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1956816" y="26517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13232" y="28254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是否使用 SSE 流式输出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603504" y="30358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DDF7EE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1089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39B7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stream_options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1956816" y="31089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713232" y="32826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例如 include_usage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603504" y="34930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DDF7EE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5661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39B7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max_tokens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1956816" y="35661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13232" y="37398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最大输出 token 数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03504" y="39502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DDF7EE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0233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39B7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max_completion_tokens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1956816" y="40233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713232" y="41970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新式最大输出长度字段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603504" y="44074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DDF7EE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4805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39B7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n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1956816" y="44805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713232" y="46542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生成候选数量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603504" y="48646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DDF7EE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9377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39B7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stop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1956816" y="49377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713232" y="51114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遇到字符串或数组中的序列停止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603504" y="53218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DDF7EE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53949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39B7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user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1956816" y="53949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713232" y="55686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调用方用户标识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4425696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采样与概率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425696" y="16642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FFFEFA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35424" y="17373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temperature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5779008" y="17373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4535424" y="19110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控制随机性；越低越稳定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4425696" y="21214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FFFEFA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35424" y="21945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top_p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5779008" y="21945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4535424" y="23682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核采样候选概率范围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4425696" y="25786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FFFEFA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35424" y="26517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top_k</a:t>
            </a:r>
            <a:endParaRPr lang="en-US" sz="840" dirty="0"/>
          </a:p>
        </p:txBody>
      </p:sp>
      <p:sp>
        <p:nvSpPr>
          <p:cNvPr id="56" name="Text 54"/>
          <p:cNvSpPr/>
          <p:nvPr/>
        </p:nvSpPr>
        <p:spPr>
          <a:xfrm>
            <a:off x="5779008" y="26517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4535424" y="28254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限制候选 token 数量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4425696" y="30358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FFFEFA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35424" y="31089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frequency_penalty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5779008" y="31089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4535424" y="32826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降低高频内容重复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4425696" y="34930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FFFEFA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35424" y="35661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presence_penalty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5779008" y="35661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4535424" y="37398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鼓励引入新内容</a:t>
            </a:r>
            <a:endParaRPr lang="en-US" sz="760" dirty="0"/>
          </a:p>
        </p:txBody>
      </p:sp>
      <p:sp>
        <p:nvSpPr>
          <p:cNvPr id="66" name="Shape 64"/>
          <p:cNvSpPr/>
          <p:nvPr/>
        </p:nvSpPr>
        <p:spPr>
          <a:xfrm>
            <a:off x="4425696" y="39502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FFFEFA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35424" y="40233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seed</a:t>
            </a:r>
            <a:endParaRPr lang="en-US" sz="840" dirty="0"/>
          </a:p>
        </p:txBody>
      </p:sp>
      <p:sp>
        <p:nvSpPr>
          <p:cNvPr id="68" name="Text 66"/>
          <p:cNvSpPr/>
          <p:nvPr/>
        </p:nvSpPr>
        <p:spPr>
          <a:xfrm>
            <a:off x="5779008" y="40233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4535424" y="41970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固定随机种子；效果依模型而定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4425696" y="44074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FFFEFA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35424" y="44805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logprobs</a:t>
            </a:r>
            <a:endParaRPr lang="en-US" sz="840" dirty="0"/>
          </a:p>
        </p:txBody>
      </p:sp>
      <p:sp>
        <p:nvSpPr>
          <p:cNvPr id="72" name="Text 70"/>
          <p:cNvSpPr/>
          <p:nvPr/>
        </p:nvSpPr>
        <p:spPr>
          <a:xfrm>
            <a:off x="5779008" y="44805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73" name="Text 71"/>
          <p:cNvSpPr/>
          <p:nvPr/>
        </p:nvSpPr>
        <p:spPr>
          <a:xfrm>
            <a:off x="4535424" y="46542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返回 token 对数概率</a:t>
            </a:r>
            <a:endParaRPr lang="en-US" sz="760" dirty="0"/>
          </a:p>
        </p:txBody>
      </p:sp>
      <p:sp>
        <p:nvSpPr>
          <p:cNvPr id="74" name="Shape 72"/>
          <p:cNvSpPr/>
          <p:nvPr/>
        </p:nvSpPr>
        <p:spPr>
          <a:xfrm>
            <a:off x="4425696" y="48646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FFFEFA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35424" y="49377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top_logprobs</a:t>
            </a:r>
            <a:endParaRPr lang="en-US" sz="840" dirty="0"/>
          </a:p>
        </p:txBody>
      </p:sp>
      <p:sp>
        <p:nvSpPr>
          <p:cNvPr id="76" name="Text 74"/>
          <p:cNvSpPr/>
          <p:nvPr/>
        </p:nvSpPr>
        <p:spPr>
          <a:xfrm>
            <a:off x="5779008" y="49377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77" name="Text 75"/>
          <p:cNvSpPr/>
          <p:nvPr/>
        </p:nvSpPr>
        <p:spPr>
          <a:xfrm>
            <a:off x="4535424" y="51114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返回最可能 token 的概率</a:t>
            </a:r>
            <a:endParaRPr lang="en-US" sz="760" dirty="0"/>
          </a:p>
        </p:txBody>
      </p:sp>
      <p:sp>
        <p:nvSpPr>
          <p:cNvPr id="78" name="Shape 76"/>
          <p:cNvSpPr/>
          <p:nvPr/>
        </p:nvSpPr>
        <p:spPr>
          <a:xfrm>
            <a:off x="4425696" y="53218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FFFEFA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35424" y="53949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logit_bias</a:t>
            </a:r>
            <a:endParaRPr lang="en-US" sz="840" dirty="0"/>
          </a:p>
        </p:txBody>
      </p:sp>
      <p:sp>
        <p:nvSpPr>
          <p:cNvPr id="80" name="Text 78"/>
          <p:cNvSpPr/>
          <p:nvPr/>
        </p:nvSpPr>
        <p:spPr>
          <a:xfrm>
            <a:off x="5779008" y="53949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81" name="Text 79"/>
          <p:cNvSpPr/>
          <p:nvPr/>
        </p:nvSpPr>
        <p:spPr>
          <a:xfrm>
            <a:off x="4535424" y="55686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调整指定 token 的生成倾向</a:t>
            </a:r>
            <a:endParaRPr lang="en-US" sz="760" dirty="0"/>
          </a:p>
        </p:txBody>
      </p:sp>
      <p:sp>
        <p:nvSpPr>
          <p:cNvPr id="82" name="Text 80"/>
          <p:cNvSpPr/>
          <p:nvPr/>
        </p:nvSpPr>
        <p:spPr>
          <a:xfrm>
            <a:off x="8247888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CF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工具与高级能力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8247888" y="16642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E8EEFF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357616" y="17373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4E7C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tools</a:t>
            </a:r>
            <a:endParaRPr lang="en-US" sz="840" dirty="0"/>
          </a:p>
        </p:txBody>
      </p:sp>
      <p:sp>
        <p:nvSpPr>
          <p:cNvPr id="85" name="Text 83"/>
          <p:cNvSpPr/>
          <p:nvPr/>
        </p:nvSpPr>
        <p:spPr>
          <a:xfrm>
            <a:off x="9601200" y="17373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86" name="Text 84"/>
          <p:cNvSpPr/>
          <p:nvPr/>
        </p:nvSpPr>
        <p:spPr>
          <a:xfrm>
            <a:off x="8357616" y="19110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声明可调用工具或函数</a:t>
            </a:r>
            <a:endParaRPr lang="en-US" sz="760" dirty="0"/>
          </a:p>
        </p:txBody>
      </p:sp>
      <p:sp>
        <p:nvSpPr>
          <p:cNvPr id="87" name="Shape 85"/>
          <p:cNvSpPr/>
          <p:nvPr/>
        </p:nvSpPr>
        <p:spPr>
          <a:xfrm>
            <a:off x="8247888" y="21214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E8EEFF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57616" y="21945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4E7C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tool_choice</a:t>
            </a:r>
            <a:endParaRPr lang="en-US" sz="840" dirty="0"/>
          </a:p>
        </p:txBody>
      </p:sp>
      <p:sp>
        <p:nvSpPr>
          <p:cNvPr id="89" name="Text 87"/>
          <p:cNvSpPr/>
          <p:nvPr/>
        </p:nvSpPr>
        <p:spPr>
          <a:xfrm>
            <a:off x="9601200" y="21945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90" name="Text 88"/>
          <p:cNvSpPr/>
          <p:nvPr/>
        </p:nvSpPr>
        <p:spPr>
          <a:xfrm>
            <a:off x="8357616" y="23682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控制是否及如何选择工具</a:t>
            </a:r>
            <a:endParaRPr lang="en-US" sz="760" dirty="0"/>
          </a:p>
        </p:txBody>
      </p:sp>
      <p:sp>
        <p:nvSpPr>
          <p:cNvPr id="91" name="Shape 89"/>
          <p:cNvSpPr/>
          <p:nvPr/>
        </p:nvSpPr>
        <p:spPr>
          <a:xfrm>
            <a:off x="8247888" y="25786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E8EEFF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57616" y="26517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4E7C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parallel_tool_calls</a:t>
            </a:r>
            <a:endParaRPr lang="en-US" sz="840" dirty="0"/>
          </a:p>
        </p:txBody>
      </p:sp>
      <p:sp>
        <p:nvSpPr>
          <p:cNvPr id="93" name="Text 91"/>
          <p:cNvSpPr/>
          <p:nvPr/>
        </p:nvSpPr>
        <p:spPr>
          <a:xfrm>
            <a:off x="9601200" y="26517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94" name="Text 92"/>
          <p:cNvSpPr/>
          <p:nvPr/>
        </p:nvSpPr>
        <p:spPr>
          <a:xfrm>
            <a:off x="8357616" y="28254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允许并行工具调用</a:t>
            </a:r>
            <a:endParaRPr lang="en-US" sz="760" dirty="0"/>
          </a:p>
        </p:txBody>
      </p:sp>
      <p:sp>
        <p:nvSpPr>
          <p:cNvPr id="95" name="Shape 93"/>
          <p:cNvSpPr/>
          <p:nvPr/>
        </p:nvSpPr>
        <p:spPr>
          <a:xfrm>
            <a:off x="8247888" y="30358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E8EEFF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357616" y="31089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4E7C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response_format</a:t>
            </a:r>
            <a:endParaRPr lang="en-US" sz="840" dirty="0"/>
          </a:p>
        </p:txBody>
      </p:sp>
      <p:sp>
        <p:nvSpPr>
          <p:cNvPr id="97" name="Text 95"/>
          <p:cNvSpPr/>
          <p:nvPr/>
        </p:nvSpPr>
        <p:spPr>
          <a:xfrm>
            <a:off x="9601200" y="31089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98" name="Text 96"/>
          <p:cNvSpPr/>
          <p:nvPr/>
        </p:nvSpPr>
        <p:spPr>
          <a:xfrm>
            <a:off x="8357616" y="32826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JSON object / JSON schema 输出</a:t>
            </a:r>
            <a:endParaRPr lang="en-US" sz="760" dirty="0"/>
          </a:p>
        </p:txBody>
      </p:sp>
      <p:sp>
        <p:nvSpPr>
          <p:cNvPr id="99" name="Shape 97"/>
          <p:cNvSpPr/>
          <p:nvPr/>
        </p:nvSpPr>
        <p:spPr>
          <a:xfrm>
            <a:off x="8247888" y="34930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E8EEFF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357616" y="35661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4E7C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reasoning_effort</a:t>
            </a:r>
            <a:endParaRPr lang="en-US" sz="840" dirty="0"/>
          </a:p>
        </p:txBody>
      </p:sp>
      <p:sp>
        <p:nvSpPr>
          <p:cNvPr id="101" name="Text 99"/>
          <p:cNvSpPr/>
          <p:nvPr/>
        </p:nvSpPr>
        <p:spPr>
          <a:xfrm>
            <a:off x="9601200" y="35661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102" name="Text 100"/>
          <p:cNvSpPr/>
          <p:nvPr/>
        </p:nvSpPr>
        <p:spPr>
          <a:xfrm>
            <a:off x="8357616" y="37398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控制推理强度</a:t>
            </a:r>
            <a:endParaRPr lang="en-US" sz="760" dirty="0"/>
          </a:p>
        </p:txBody>
      </p:sp>
      <p:sp>
        <p:nvSpPr>
          <p:cNvPr id="103" name="Shape 101"/>
          <p:cNvSpPr/>
          <p:nvPr/>
        </p:nvSpPr>
        <p:spPr>
          <a:xfrm>
            <a:off x="8247888" y="39502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E8EEFF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357616" y="40233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4E7C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verbosity</a:t>
            </a:r>
            <a:endParaRPr lang="en-US" sz="840" dirty="0"/>
          </a:p>
        </p:txBody>
      </p:sp>
      <p:sp>
        <p:nvSpPr>
          <p:cNvPr id="105" name="Text 103"/>
          <p:cNvSpPr/>
          <p:nvPr/>
        </p:nvSpPr>
        <p:spPr>
          <a:xfrm>
            <a:off x="9601200" y="40233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106" name="Text 104"/>
          <p:cNvSpPr/>
          <p:nvPr/>
        </p:nvSpPr>
        <p:spPr>
          <a:xfrm>
            <a:off x="8357616" y="41970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控制回答详略（特定模型）</a:t>
            </a:r>
            <a:endParaRPr lang="en-US" sz="760" dirty="0"/>
          </a:p>
        </p:txBody>
      </p:sp>
      <p:sp>
        <p:nvSpPr>
          <p:cNvPr id="107" name="Shape 105"/>
          <p:cNvSpPr/>
          <p:nvPr/>
        </p:nvSpPr>
        <p:spPr>
          <a:xfrm>
            <a:off x="8247888" y="44074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E8EEFF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357616" y="44805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4E7C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modalities</a:t>
            </a:r>
            <a:endParaRPr lang="en-US" sz="840" dirty="0"/>
          </a:p>
        </p:txBody>
      </p:sp>
      <p:sp>
        <p:nvSpPr>
          <p:cNvPr id="109" name="Text 107"/>
          <p:cNvSpPr/>
          <p:nvPr/>
        </p:nvSpPr>
        <p:spPr>
          <a:xfrm>
            <a:off x="9601200" y="44805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110" name="Text 108"/>
          <p:cNvSpPr/>
          <p:nvPr/>
        </p:nvSpPr>
        <p:spPr>
          <a:xfrm>
            <a:off x="8357616" y="46542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请求文本、音频等输出模态</a:t>
            </a:r>
            <a:endParaRPr lang="en-US" sz="760" dirty="0"/>
          </a:p>
        </p:txBody>
      </p:sp>
      <p:sp>
        <p:nvSpPr>
          <p:cNvPr id="111" name="Shape 109"/>
          <p:cNvSpPr/>
          <p:nvPr/>
        </p:nvSpPr>
        <p:spPr>
          <a:xfrm>
            <a:off x="8247888" y="48646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E8EEFF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57616" y="49377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4E7C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audio</a:t>
            </a:r>
            <a:endParaRPr lang="en-US" sz="840" dirty="0"/>
          </a:p>
        </p:txBody>
      </p:sp>
      <p:sp>
        <p:nvSpPr>
          <p:cNvPr id="113" name="Text 111"/>
          <p:cNvSpPr/>
          <p:nvPr/>
        </p:nvSpPr>
        <p:spPr>
          <a:xfrm>
            <a:off x="9601200" y="49377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114" name="Text 112"/>
          <p:cNvSpPr/>
          <p:nvPr/>
        </p:nvSpPr>
        <p:spPr>
          <a:xfrm>
            <a:off x="8357616" y="51114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音频输出配置</a:t>
            </a:r>
            <a:endParaRPr lang="en-US" sz="760" dirty="0"/>
          </a:p>
        </p:txBody>
      </p:sp>
      <p:sp>
        <p:nvSpPr>
          <p:cNvPr id="115" name="Shape 113"/>
          <p:cNvSpPr/>
          <p:nvPr/>
        </p:nvSpPr>
        <p:spPr>
          <a:xfrm>
            <a:off x="8247888" y="5321808"/>
            <a:ext cx="3566160" cy="429768"/>
          </a:xfrm>
          <a:prstGeom prst="roundRect">
            <a:avLst>
              <a:gd name="adj" fmla="val 8511"/>
            </a:avLst>
          </a:prstGeom>
          <a:solidFill>
            <a:srgbClr val="E8EEFF"/>
          </a:solidFill>
          <a:ln w="5715">
            <a:solidFill>
              <a:srgbClr val="D9DED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357616" y="53949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4E7C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web_search_options</a:t>
            </a:r>
            <a:endParaRPr lang="en-US" sz="840" dirty="0"/>
          </a:p>
        </p:txBody>
      </p:sp>
      <p:sp>
        <p:nvSpPr>
          <p:cNvPr id="117" name="Text 115"/>
          <p:cNvSpPr/>
          <p:nvPr/>
        </p:nvSpPr>
        <p:spPr>
          <a:xfrm>
            <a:off x="9601200" y="53949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可选</a:t>
            </a:r>
            <a:endParaRPr lang="en-US" sz="780" dirty="0"/>
          </a:p>
        </p:txBody>
      </p:sp>
      <p:sp>
        <p:nvSpPr>
          <p:cNvPr id="118" name="Text 116"/>
          <p:cNvSpPr/>
          <p:nvPr/>
        </p:nvSpPr>
        <p:spPr>
          <a:xfrm>
            <a:off x="8357616" y="556869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网页搜索配置（模型相关）</a:t>
            </a:r>
            <a:endParaRPr lang="en-US" sz="760" dirty="0"/>
          </a:p>
        </p:txBody>
      </p:sp>
      <p:sp>
        <p:nvSpPr>
          <p:cNvPr id="119" name="Shape 117"/>
          <p:cNvSpPr/>
          <p:nvPr/>
        </p:nvSpPr>
        <p:spPr>
          <a:xfrm>
            <a:off x="603504" y="5943600"/>
            <a:ext cx="10972800" cy="338328"/>
          </a:xfrm>
          <a:prstGeom prst="roundRect">
            <a:avLst>
              <a:gd name="adj" fmla="val 10811"/>
            </a:avLst>
          </a:prstGeom>
          <a:solidFill>
            <a:srgbClr val="FFF0D5"/>
          </a:solidFill>
          <a:ln w="6985">
            <a:solidFill>
              <a:srgbClr val="EEC77D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22960" y="6044184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581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兼容性提示：网关能够接收参数，不代表所有上游模型都以相同方式支持；厂商特有扩展参数请结合所申请模型验证。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5D0A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附录 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附录：其他接口速查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95176" y="384048"/>
            <a:ext cx="109728" cy="109728"/>
          </a:xfrm>
          <a:prstGeom prst="ellipse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网关 · 大模型调用培训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790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353312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EFA"/>
          </a:solidFill>
          <a:ln w="889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536192"/>
            <a:ext cx="73152" cy="1783080"/>
          </a:xfrm>
          <a:prstGeom prst="rect">
            <a:avLst/>
          </a:prstGeom>
          <a:solidFill>
            <a:srgbClr val="35D0A0"/>
          </a:solidFill>
          <a:ln w="12700">
            <a:solidFill>
              <a:srgbClr val="35D0A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554480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模型与文本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42416" y="1993392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35D0A0"/>
          </a:solidFill>
          <a:ln w="7620">
            <a:solidFill>
              <a:srgbClr val="35D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2075688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GET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737360" y="2020824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/v1/models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453128" y="20208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查询令牌可访问模型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042416" y="2304288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35D0A0"/>
          </a:solidFill>
          <a:ln w="7620">
            <a:solidFill>
              <a:srgbClr val="35D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2386584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GET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737360" y="2331720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/v1/models/{model}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453128" y="23317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查询单个模型信息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042416" y="2615184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35D0A0"/>
          </a:solidFill>
          <a:ln w="7620">
            <a:solidFill>
              <a:srgbClr val="35D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2144" y="2697480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737360" y="2642616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/v1/completions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453128" y="264261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传统文本补全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042416" y="2926080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35D0A0"/>
          </a:solidFill>
          <a:ln w="7620">
            <a:solidFill>
              <a:srgbClr val="35D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52144" y="3008376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1737360" y="2953512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/v1/responses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453128" y="2953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统一 Responses 接口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1042416" y="3236976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35D0A0"/>
          </a:solidFill>
          <a:ln w="7620">
            <a:solidFill>
              <a:srgbClr val="35D0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52144" y="3319272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737360" y="3264408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/v1/messages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453128" y="326440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Claude Messages 兼容接口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382512" y="1353312"/>
            <a:ext cx="5148072" cy="2148840"/>
          </a:xfrm>
          <a:prstGeom prst="roundRect">
            <a:avLst>
              <a:gd name="adj" fmla="val 2553"/>
            </a:avLst>
          </a:prstGeom>
          <a:solidFill>
            <a:srgbClr val="FFFEFA"/>
          </a:solidFill>
          <a:ln w="889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65392" y="1536192"/>
            <a:ext cx="73152" cy="178308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155448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向量、排序与审核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766560" y="1993392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F4B860"/>
          </a:solidFill>
          <a:ln w="7620">
            <a:solidFill>
              <a:srgbClr val="F4B8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2075688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025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7461504" y="2020824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/v1/embeddings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10177272" y="20208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生成向量表示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766560" y="2304288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F4B860"/>
          </a:solidFill>
          <a:ln w="7620">
            <a:solidFill>
              <a:srgbClr val="F4B8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76288" y="2386584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025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7461504" y="2331720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/v1/rerank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10177272" y="2331720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对候选文本重排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766560" y="2615184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F4B860"/>
          </a:solidFill>
          <a:ln w="7620">
            <a:solidFill>
              <a:srgbClr val="F4B8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76288" y="2697480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025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7461504" y="2642616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/v1/moderations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10177272" y="26426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内容审核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6766560" y="2926080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F4B860"/>
          </a:solidFill>
          <a:ln w="7620">
            <a:solidFill>
              <a:srgbClr val="F4B8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3008376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025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GET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7461504" y="2953512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/v1/realtime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10177272" y="295351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实时 WebSocket 接口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58368" y="3730752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EFA"/>
          </a:solidFill>
          <a:ln w="889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41248" y="3913632"/>
            <a:ext cx="73152" cy="1737360"/>
          </a:xfrm>
          <a:prstGeom prst="rect">
            <a:avLst/>
          </a:prstGeom>
          <a:solidFill>
            <a:srgbClr val="D65A5A"/>
          </a:solidFill>
          <a:ln w="12700">
            <a:solidFill>
              <a:srgbClr val="D65A5A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42416" y="3931920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图像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1042416" y="4370832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D65A5A"/>
          </a:solidFill>
          <a:ln w="7620">
            <a:solidFill>
              <a:srgbClr val="D65A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52144" y="4453128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1737360" y="4398264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/v1/images/generations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4453128" y="439826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文本生成图像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1042416" y="4681728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D65A5A"/>
          </a:solidFill>
          <a:ln w="7620">
            <a:solidFill>
              <a:srgbClr val="D65A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52144" y="4764024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1737360" y="4709160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/v1/images/edits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4453128" y="47091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编辑图像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1042416" y="4992624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D65A5A"/>
          </a:solidFill>
          <a:ln w="7620">
            <a:solidFill>
              <a:srgbClr val="D65A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52144" y="5074920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1737360" y="5020056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/v1/edits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4453128" y="502005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兼容编辑入口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1042416" y="5303520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D65A5A"/>
          </a:solidFill>
          <a:ln w="7620">
            <a:solidFill>
              <a:srgbClr val="D65A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52144" y="5385816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1737360" y="5330952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/v1beta/models/...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4453128" y="533095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Gemini 原生生成接口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6382512" y="3730752"/>
            <a:ext cx="5148072" cy="2103120"/>
          </a:xfrm>
          <a:prstGeom prst="roundRect">
            <a:avLst>
              <a:gd name="adj" fmla="val 2609"/>
            </a:avLst>
          </a:prstGeom>
          <a:solidFill>
            <a:srgbClr val="FFFEFA"/>
          </a:solidFill>
          <a:ln w="8890">
            <a:solidFill>
              <a:srgbClr val="D9D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565392" y="3913632"/>
            <a:ext cx="73152" cy="1737360"/>
          </a:xfrm>
          <a:prstGeom prst="rect">
            <a:avLst/>
          </a:prstGeom>
          <a:solidFill>
            <a:srgbClr val="4E7CF0"/>
          </a:solidFill>
          <a:ln w="12700">
            <a:solidFill>
              <a:srgbClr val="4E7CF0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66560" y="393192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0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音频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766560" y="4370832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4E7CF0"/>
          </a:solidFill>
          <a:ln w="7620">
            <a:solidFill>
              <a:srgbClr val="4E7C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76288" y="4453128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7461504" y="4398264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/v1/audio/transcriptions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10177272" y="439826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语音转文字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6766560" y="4681728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4E7CF0"/>
          </a:solidFill>
          <a:ln w="7620">
            <a:solidFill>
              <a:srgbClr val="4E7C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76288" y="4764024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78" name="Text 76"/>
          <p:cNvSpPr/>
          <p:nvPr/>
        </p:nvSpPr>
        <p:spPr>
          <a:xfrm>
            <a:off x="7461504" y="4709160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/v1/audio/translations</a:t>
            </a:r>
            <a:endParaRPr lang="en-US" sz="820" dirty="0"/>
          </a:p>
        </p:txBody>
      </p:sp>
      <p:sp>
        <p:nvSpPr>
          <p:cNvPr id="79" name="Text 77"/>
          <p:cNvSpPr/>
          <p:nvPr/>
        </p:nvSpPr>
        <p:spPr>
          <a:xfrm>
            <a:off x="10177272" y="4709160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音频翻译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6766560" y="4992624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4E7CF0"/>
          </a:solidFill>
          <a:ln w="7620">
            <a:solidFill>
              <a:srgbClr val="4E7C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76288" y="5074920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7461504" y="5020056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/v1/audio/speech</a:t>
            </a:r>
            <a:endParaRPr lang="en-US" sz="820" dirty="0"/>
          </a:p>
        </p:txBody>
      </p:sp>
      <p:sp>
        <p:nvSpPr>
          <p:cNvPr id="83" name="Text 81"/>
          <p:cNvSpPr/>
          <p:nvPr/>
        </p:nvSpPr>
        <p:spPr>
          <a:xfrm>
            <a:off x="10177272" y="5020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文字转语音</a:t>
            </a:r>
            <a:endParaRPr lang="en-US" sz="820" dirty="0"/>
          </a:p>
        </p:txBody>
      </p:sp>
      <p:sp>
        <p:nvSpPr>
          <p:cNvPr id="84" name="Shape 82"/>
          <p:cNvSpPr/>
          <p:nvPr/>
        </p:nvSpPr>
        <p:spPr>
          <a:xfrm>
            <a:off x="6766560" y="5303520"/>
            <a:ext cx="576072" cy="237744"/>
          </a:xfrm>
          <a:prstGeom prst="roundRect">
            <a:avLst>
              <a:gd name="adj" fmla="val 30769"/>
            </a:avLst>
          </a:prstGeom>
          <a:solidFill>
            <a:srgbClr val="4E7CF0"/>
          </a:solidFill>
          <a:ln w="7620">
            <a:solidFill>
              <a:srgbClr val="4E7C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76288" y="5385816"/>
            <a:ext cx="3566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7461504" y="5330952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0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/v1/engines/{model}/embeddings</a:t>
            </a:r>
            <a:endParaRPr lang="en-US" sz="820" dirty="0"/>
          </a:p>
        </p:txBody>
      </p:sp>
      <p:sp>
        <p:nvSpPr>
          <p:cNvPr id="87" name="Text 85"/>
          <p:cNvSpPr/>
          <p:nvPr/>
        </p:nvSpPr>
        <p:spPr>
          <a:xfrm>
            <a:off x="10177272" y="53309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3606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Gemini 兼容向量接口</a:t>
            </a:r>
            <a:endParaRPr lang="en-US" sz="820" dirty="0"/>
          </a:p>
        </p:txBody>
      </p:sp>
      <p:sp>
        <p:nvSpPr>
          <p:cNvPr id="88" name="Shape 86"/>
          <p:cNvSpPr/>
          <p:nvPr/>
        </p:nvSpPr>
        <p:spPr>
          <a:xfrm>
            <a:off x="3063240" y="5925312"/>
            <a:ext cx="6080760" cy="347472"/>
          </a:xfrm>
          <a:prstGeom prst="roundRect">
            <a:avLst>
              <a:gd name="adj" fmla="val 21053"/>
            </a:avLst>
          </a:prstGeom>
          <a:solidFill>
            <a:srgbClr val="DDF7EE"/>
          </a:solidFill>
          <a:ln w="7620">
            <a:solidFill>
              <a:srgbClr val="B8E5D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72968" y="6007608"/>
            <a:ext cx="5861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9B7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具体接口能否调用，还取决于令牌模型限制和所申请模型的实际能力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 网关项目组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网关大模型调用培训</dc:title>
  <dc:subject>AI 网关大模型申请、管理员配置与 API 调用培训</dc:subject>
  <dc:creator>AI 网关项目组</dc:creator>
  <cp:lastModifiedBy>AI 网关项目组</cp:lastModifiedBy>
  <cp:revision>1</cp:revision>
  <dcterms:created xsi:type="dcterms:W3CDTF">2026-07-17T02:31:50Z</dcterms:created>
  <dcterms:modified xsi:type="dcterms:W3CDTF">2026-07-17T02:31:50Z</dcterms:modified>
</cp:coreProperties>
</file>